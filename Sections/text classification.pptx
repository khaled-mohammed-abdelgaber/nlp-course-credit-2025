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548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0381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CA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3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195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230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003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324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905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633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535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97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43041D9-1924-4D57-B38E-1AB6AF650E62}" type="datetimeFigureOut">
              <a:rPr lang="en-CA" smtClean="0"/>
              <a:t>18/11/2025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BCEE026-5940-4270-A86D-E252733F07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043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Khaled.edu.engineer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Text classification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19"/>
            <a:ext cx="7891272" cy="1451843"/>
          </a:xfrm>
        </p:spPr>
        <p:txBody>
          <a:bodyPr/>
          <a:lstStyle/>
          <a:p>
            <a:r>
              <a:rPr lang="en-US" dirty="0" smtClean="0"/>
              <a:t>BY: Khaled Mohammed</a:t>
            </a:r>
          </a:p>
          <a:p>
            <a:r>
              <a:rPr lang="en-US" dirty="0" smtClean="0"/>
              <a:t>Teaching Assistant at Faculty of Engineering</a:t>
            </a:r>
          </a:p>
          <a:p>
            <a:r>
              <a:rPr lang="en-US" dirty="0" smtClean="0">
                <a:hlinkClick r:id="rId2"/>
              </a:rPr>
              <a:t>Khaled.edu.engineer@gmail.com</a:t>
            </a:r>
            <a:endParaRPr lang="en-US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169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Bayes is a </a:t>
            </a:r>
            <a:r>
              <a:rPr lang="en-US" b="1" dirty="0"/>
              <a:t>probability-based </a:t>
            </a:r>
            <a:r>
              <a:rPr lang="en-US" b="1" dirty="0" smtClean="0"/>
              <a:t>classifier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Its </a:t>
            </a:r>
            <a:r>
              <a:rPr lang="en-US" dirty="0"/>
              <a:t>goal is to find the class </a:t>
            </a:r>
            <a:r>
              <a:rPr lang="en-US" b="1" dirty="0"/>
              <a:t>C</a:t>
            </a:r>
            <a:r>
              <a:rPr lang="en-US" dirty="0"/>
              <a:t> (for example: </a:t>
            </a:r>
            <a:r>
              <a:rPr lang="en-US" i="1" dirty="0"/>
              <a:t>positive vs negative</a:t>
            </a:r>
            <a:r>
              <a:rPr lang="en-US" dirty="0"/>
              <a:t> sentiment) that is most likely given the words in a document</a:t>
            </a:r>
            <a:r>
              <a:rPr lang="en-US" dirty="0" smtClean="0"/>
              <a:t>:</a:t>
            </a:r>
            <a:endParaRPr lang="en-CA" dirty="0" smtClean="0"/>
          </a:p>
          <a:p>
            <a:endParaRPr lang="en-US" dirty="0"/>
          </a:p>
          <a:p>
            <a:r>
              <a:rPr lang="en-CA" dirty="0"/>
              <a:t>Using Bayes’ theorem</a:t>
            </a:r>
            <a:r>
              <a:rPr lang="en-CA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Since the denominator is the same for all classes, we compare only: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241" y="3067261"/>
            <a:ext cx="2784277" cy="62485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123" y="3952109"/>
            <a:ext cx="4191363" cy="68585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466" y="5339920"/>
            <a:ext cx="2347163" cy="36579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58672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Naïve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</a:t>
            </a:r>
            <a:r>
              <a:rPr lang="en-US" b="1" dirty="0"/>
              <a:t>every word is independent of the others</a:t>
            </a:r>
            <a:r>
              <a:rPr lang="en-US" dirty="0"/>
              <a:t> given the </a:t>
            </a:r>
            <a:r>
              <a:rPr lang="en-US" dirty="0" smtClean="0"/>
              <a:t>class, So</a:t>
            </a:r>
            <a:r>
              <a:rPr lang="en-US" dirty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This assumption is </a:t>
            </a:r>
            <a:r>
              <a:rPr lang="en-US" b="1" dirty="0"/>
              <a:t>not true in real language</a:t>
            </a:r>
            <a:r>
              <a:rPr lang="en-US" dirty="0"/>
              <a:t>, but it works extremely well because:</a:t>
            </a:r>
          </a:p>
          <a:p>
            <a:pPr lvl="1"/>
            <a:r>
              <a:rPr lang="en-US" dirty="0"/>
              <a:t>It simplifies the math</a:t>
            </a:r>
          </a:p>
          <a:p>
            <a:pPr lvl="1"/>
            <a:r>
              <a:rPr lang="en-US" dirty="0"/>
              <a:t>Works well in high-dimensional sparse text</a:t>
            </a:r>
          </a:p>
          <a:p>
            <a:pPr lvl="1"/>
            <a:r>
              <a:rPr lang="en-US" dirty="0"/>
              <a:t>Word frequencies capture a lot of signal (ex: “good”, “love”, “great” → positive)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25" y="2561846"/>
            <a:ext cx="3200677" cy="67061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98101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Naïve Bayes Works for Text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document with words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I </a:t>
            </a:r>
            <a:r>
              <a:rPr lang="en-US" dirty="0">
                <a:solidFill>
                  <a:srgbClr val="FF0000"/>
                </a:solidFill>
              </a:rPr>
              <a:t>love </a:t>
            </a:r>
            <a:r>
              <a:rPr lang="en-US" dirty="0" smtClean="0">
                <a:solidFill>
                  <a:srgbClr val="FF0000"/>
                </a:solidFill>
              </a:rPr>
              <a:t>this movie</a:t>
            </a:r>
          </a:p>
          <a:p>
            <a:r>
              <a:rPr lang="en-CA" dirty="0"/>
              <a:t>We want to compute</a:t>
            </a:r>
            <a:r>
              <a:rPr lang="en-CA" dirty="0" smtClean="0"/>
              <a:t>:</a:t>
            </a:r>
          </a:p>
          <a:p>
            <a:endParaRPr lang="en-CA" dirty="0" smtClean="0"/>
          </a:p>
          <a:p>
            <a:endParaRPr lang="en-US" dirty="0"/>
          </a:p>
          <a:p>
            <a:r>
              <a:rPr lang="en-US" dirty="0"/>
              <a:t>And the same for negative.</a:t>
            </a:r>
          </a:p>
          <a:p>
            <a:r>
              <a:rPr lang="en-US" dirty="0"/>
              <a:t>The class with the </a:t>
            </a:r>
            <a:r>
              <a:rPr lang="en-US" b="1" dirty="0"/>
              <a:t>higher</a:t>
            </a:r>
            <a:r>
              <a:rPr lang="en-US" dirty="0"/>
              <a:t> probability is selected.</a:t>
            </a:r>
          </a:p>
          <a:p>
            <a:endParaRPr lang="en-CA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852" y="3436136"/>
            <a:ext cx="7750212" cy="39627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0543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Naïve Bayes is used for text?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</a:t>
            </a:r>
            <a:r>
              <a:rPr lang="en-US" b="1" dirty="0"/>
              <a:t>Multinomial Naïve Bayes</a:t>
            </a:r>
            <a:r>
              <a:rPr lang="en-US" dirty="0"/>
              <a:t> because it counts words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/>
              <a:t>Why Laplace smoothing (+1)?</a:t>
            </a:r>
          </a:p>
          <a:p>
            <a:pPr lvl="1"/>
            <a:r>
              <a:rPr lang="en-US" dirty="0"/>
              <a:t>To avoid zeros</a:t>
            </a:r>
          </a:p>
          <a:p>
            <a:pPr lvl="1"/>
            <a:r>
              <a:rPr lang="en-US" dirty="0"/>
              <a:t>If a word never appears in a class → its probability becomes 0 → whole product becomes 0</a:t>
            </a:r>
          </a:p>
          <a:p>
            <a:pPr lvl="1"/>
            <a:r>
              <a:rPr lang="en-US" dirty="0"/>
              <a:t>Laplace smoothing solves it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924" y="2645431"/>
            <a:ext cx="3124471" cy="70872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2666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Detailed Example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819469"/>
            <a:ext cx="10058400" cy="4767943"/>
          </a:xfrm>
        </p:spPr>
        <p:txBody>
          <a:bodyPr>
            <a:normAutofit/>
          </a:bodyPr>
          <a:lstStyle/>
          <a:p>
            <a:r>
              <a:rPr lang="en-US" dirty="0"/>
              <a:t>We have 4 training documents, each belonging to class </a:t>
            </a:r>
            <a:r>
              <a:rPr lang="en-US" b="1" dirty="0"/>
              <a:t>c</a:t>
            </a:r>
            <a:r>
              <a:rPr lang="en-US" dirty="0"/>
              <a:t> or </a:t>
            </a:r>
            <a:r>
              <a:rPr lang="en-US" b="1" dirty="0"/>
              <a:t>j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CA" dirty="0"/>
              <a:t>Test document (Doc 5</a:t>
            </a:r>
            <a:r>
              <a:rPr lang="en-CA" dirty="0" smtClean="0"/>
              <a:t>):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Chinese Chinese Chinese Tokyo </a:t>
            </a:r>
            <a:r>
              <a:rPr lang="it-IT" dirty="0" smtClean="0">
                <a:solidFill>
                  <a:srgbClr val="FF0000"/>
                </a:solidFill>
              </a:rPr>
              <a:t>Japan</a:t>
            </a:r>
          </a:p>
          <a:p>
            <a:r>
              <a:rPr lang="en-US" dirty="0"/>
              <a:t>We want to decide: </a:t>
            </a:r>
            <a:r>
              <a:rPr lang="en-US" b="1" dirty="0"/>
              <a:t>Is it class c or class j?</a:t>
            </a:r>
            <a:endParaRPr lang="en-CA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4930"/>
              </p:ext>
            </p:extLst>
          </p:nvPr>
        </p:nvGraphicFramePr>
        <p:xfrm>
          <a:off x="1069848" y="2556589"/>
          <a:ext cx="10058400" cy="203783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352862">
                  <a:extLst>
                    <a:ext uri="{9D8B030D-6E8A-4147-A177-3AD203B41FA5}">
                      <a16:colId xmlns:a16="http://schemas.microsoft.com/office/drawing/2014/main" val="3382156955"/>
                    </a:ext>
                  </a:extLst>
                </a:gridCol>
                <a:gridCol w="3352738">
                  <a:extLst>
                    <a:ext uri="{9D8B030D-6E8A-4147-A177-3AD203B41FA5}">
                      <a16:colId xmlns:a16="http://schemas.microsoft.com/office/drawing/2014/main" val="304744870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23579590"/>
                    </a:ext>
                  </a:extLst>
                </a:gridCol>
              </a:tblGrid>
              <a:tr h="407566">
                <a:tc>
                  <a:txBody>
                    <a:bodyPr/>
                    <a:lstStyle/>
                    <a:p>
                      <a:r>
                        <a:rPr lang="en-CA"/>
                        <a:t>Doc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708663"/>
                  </a:ext>
                </a:extLst>
              </a:tr>
              <a:tr h="407566">
                <a:tc>
                  <a:txBody>
                    <a:bodyPr/>
                    <a:lstStyle/>
                    <a:p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Chinese Beijing Chinese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53240"/>
                  </a:ext>
                </a:extLst>
              </a:tr>
              <a:tr h="407566">
                <a:tc>
                  <a:txBody>
                    <a:bodyPr/>
                    <a:lstStyle/>
                    <a:p>
                      <a:r>
                        <a:rPr lang="en-CA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Chinese Chinese Shanghai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221365"/>
                  </a:ext>
                </a:extLst>
              </a:tr>
              <a:tr h="407566">
                <a:tc>
                  <a:txBody>
                    <a:bodyPr/>
                    <a:lstStyle/>
                    <a:p>
                      <a:r>
                        <a:rPr lang="en-CA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Chinese Macao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067889"/>
                  </a:ext>
                </a:extLst>
              </a:tr>
              <a:tr h="407566"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Tokyo Japan Chinese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98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56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</a:t>
            </a:r>
            <a:r>
              <a:rPr lang="en-CA" dirty="0" smtClean="0"/>
              <a:t>1: </a:t>
            </a:r>
            <a:r>
              <a:rPr lang="en-CA" dirty="0"/>
              <a:t>Priors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Because:</a:t>
            </a:r>
          </a:p>
          <a:p>
            <a:pPr lvl="1"/>
            <a:r>
              <a:rPr lang="en-US" dirty="0"/>
              <a:t>3 documents are class </a:t>
            </a:r>
            <a:r>
              <a:rPr lang="en-US" b="1" dirty="0"/>
              <a:t>c</a:t>
            </a:r>
            <a:endParaRPr lang="en-US" dirty="0"/>
          </a:p>
          <a:p>
            <a:pPr lvl="1"/>
            <a:r>
              <a:rPr lang="en-US" dirty="0"/>
              <a:t>1 document is class </a:t>
            </a:r>
            <a:r>
              <a:rPr lang="en-US" b="1" dirty="0"/>
              <a:t>j</a:t>
            </a:r>
            <a:endParaRPr lang="en-US" dirty="0"/>
          </a:p>
          <a:p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161" y="3509609"/>
            <a:ext cx="4759854" cy="10810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4845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905" y="242036"/>
            <a:ext cx="10058400" cy="896299"/>
          </a:xfrm>
        </p:spPr>
        <p:txBody>
          <a:bodyPr>
            <a:normAutofit/>
          </a:bodyPr>
          <a:lstStyle/>
          <a:p>
            <a:r>
              <a:rPr lang="en-US" sz="4000" dirty="0"/>
              <a:t>Step </a:t>
            </a:r>
            <a:r>
              <a:rPr lang="en-US" sz="4000" dirty="0" smtClean="0"/>
              <a:t>2: </a:t>
            </a:r>
            <a:r>
              <a:rPr lang="en-US" sz="4000" dirty="0"/>
              <a:t>Count words with Laplace Smoothing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240971"/>
            <a:ext cx="10058400" cy="4931229"/>
          </a:xfrm>
        </p:spPr>
        <p:txBody>
          <a:bodyPr>
            <a:normAutofit/>
          </a:bodyPr>
          <a:lstStyle/>
          <a:p>
            <a:r>
              <a:rPr lang="en-CA" b="1" dirty="0" smtClean="0"/>
              <a:t>Vocabulary:</a:t>
            </a:r>
            <a:endParaRPr lang="en-CA" dirty="0" smtClean="0"/>
          </a:p>
          <a:p>
            <a:pPr lvl="1"/>
            <a:r>
              <a:rPr lang="en-CA" sz="1500" dirty="0" smtClean="0"/>
              <a:t>Chinese</a:t>
            </a:r>
            <a:r>
              <a:rPr lang="en-CA" sz="1500" dirty="0"/>
              <a:t>, Beijing, Shanghai, Macao, Tokyo, </a:t>
            </a:r>
            <a:r>
              <a:rPr lang="en-CA" sz="1500" dirty="0" smtClean="0"/>
              <a:t>Japan</a:t>
            </a:r>
          </a:p>
          <a:p>
            <a:pPr lvl="1"/>
            <a:r>
              <a:rPr lang="en-CA" sz="1700" dirty="0" smtClean="0"/>
              <a:t>|V</a:t>
            </a:r>
            <a:r>
              <a:rPr lang="en-CA" sz="1700" dirty="0"/>
              <a:t>| = 6</a:t>
            </a:r>
          </a:p>
          <a:p>
            <a:r>
              <a:rPr lang="en-CA" b="1" dirty="0"/>
              <a:t>Count total words per class:</a:t>
            </a:r>
          </a:p>
          <a:p>
            <a:pPr lvl="1"/>
            <a:r>
              <a:rPr lang="en-CA" b="1" dirty="0"/>
              <a:t>For class c</a:t>
            </a:r>
          </a:p>
          <a:p>
            <a:pPr lvl="2"/>
            <a:r>
              <a:rPr lang="en-CA" dirty="0"/>
              <a:t>Docs 1, 2, 3:</a:t>
            </a:r>
          </a:p>
          <a:p>
            <a:pPr lvl="2"/>
            <a:r>
              <a:rPr lang="en-CA" dirty="0"/>
              <a:t>Doc1: Chinese Beijing Chinese → 3 words</a:t>
            </a:r>
          </a:p>
          <a:p>
            <a:pPr lvl="2"/>
            <a:r>
              <a:rPr lang="en-CA" dirty="0"/>
              <a:t>Doc2: Chinese </a:t>
            </a:r>
            <a:r>
              <a:rPr lang="en-CA" dirty="0" err="1"/>
              <a:t>Chinese</a:t>
            </a:r>
            <a:r>
              <a:rPr lang="en-CA" dirty="0"/>
              <a:t> Shanghai → 3 words</a:t>
            </a:r>
          </a:p>
          <a:p>
            <a:pPr lvl="2"/>
            <a:r>
              <a:rPr lang="en-CA" dirty="0"/>
              <a:t>Doc3: Chinese Macao → 2 words</a:t>
            </a:r>
            <a:br>
              <a:rPr lang="en-CA" dirty="0"/>
            </a:br>
            <a:r>
              <a:rPr lang="en-CA" b="1" dirty="0"/>
              <a:t>Total words = 8</a:t>
            </a:r>
            <a:endParaRPr lang="en-CA" dirty="0"/>
          </a:p>
          <a:p>
            <a:pPr lvl="1"/>
            <a:r>
              <a:rPr lang="en-CA" b="1" dirty="0"/>
              <a:t>For class j</a:t>
            </a:r>
          </a:p>
          <a:p>
            <a:pPr lvl="2"/>
            <a:r>
              <a:rPr lang="en-CA" dirty="0"/>
              <a:t>Doc 4:</a:t>
            </a:r>
          </a:p>
          <a:p>
            <a:pPr lvl="2"/>
            <a:r>
              <a:rPr lang="en-CA" dirty="0"/>
              <a:t>Tokyo Japan Chinese → 3 words</a:t>
            </a:r>
            <a:br>
              <a:rPr lang="en-CA" dirty="0"/>
            </a:br>
            <a:r>
              <a:rPr lang="en-CA" b="1" dirty="0"/>
              <a:t>Total words = 3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11460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203" y="186052"/>
            <a:ext cx="10058400" cy="877637"/>
          </a:xfrm>
        </p:spPr>
        <p:txBody>
          <a:bodyPr>
            <a:normAutofit/>
          </a:bodyPr>
          <a:lstStyle/>
          <a:p>
            <a:r>
              <a:rPr lang="en-CA" sz="4000" dirty="0"/>
              <a:t>Step </a:t>
            </a:r>
            <a:r>
              <a:rPr lang="en-CA" sz="4000" dirty="0" smtClean="0"/>
              <a:t>3: Compute </a:t>
            </a:r>
            <a:r>
              <a:rPr lang="en-CA" sz="4000" dirty="0"/>
              <a:t>Conditional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455576"/>
            <a:ext cx="10058400" cy="4716624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For </a:t>
            </a:r>
            <a:r>
              <a:rPr lang="en-US" dirty="0"/>
              <a:t>class </a:t>
            </a:r>
            <a:r>
              <a:rPr lang="en-US" b="1" dirty="0"/>
              <a:t>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count(Chinese, c) = 5</a:t>
            </a:r>
          </a:p>
          <a:p>
            <a:pPr lvl="1"/>
            <a:r>
              <a:rPr lang="en-US" dirty="0" smtClean="0"/>
              <a:t>count(Tokyo</a:t>
            </a:r>
            <a:r>
              <a:rPr lang="en-US" dirty="0"/>
              <a:t>, c) = 0</a:t>
            </a:r>
          </a:p>
          <a:p>
            <a:pPr lvl="1"/>
            <a:r>
              <a:rPr lang="en-US" dirty="0"/>
              <a:t>count(Japan, c) = 0</a:t>
            </a:r>
          </a:p>
          <a:p>
            <a:r>
              <a:rPr lang="en-US" dirty="0"/>
              <a:t>So: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582" y="1595535"/>
            <a:ext cx="3410304" cy="11363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590" y="3888533"/>
            <a:ext cx="4432577" cy="20270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3010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978" y="335342"/>
            <a:ext cx="10058400" cy="82165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Cont.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110" y="1343608"/>
            <a:ext cx="10363138" cy="482859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class </a:t>
            </a:r>
            <a:r>
              <a:rPr lang="en-US" b="1" dirty="0"/>
              <a:t>j</a:t>
            </a:r>
            <a:r>
              <a:rPr lang="en-US" dirty="0"/>
              <a:t>:</a:t>
            </a:r>
          </a:p>
          <a:p>
            <a:r>
              <a:rPr lang="en-US" dirty="0"/>
              <a:t>Counts from Doc 4:</a:t>
            </a:r>
          </a:p>
          <a:p>
            <a:pPr lvl="1"/>
            <a:r>
              <a:rPr lang="en-US" dirty="0"/>
              <a:t>Tokyo: 1</a:t>
            </a:r>
          </a:p>
          <a:p>
            <a:pPr lvl="1"/>
            <a:r>
              <a:rPr lang="en-US" dirty="0"/>
              <a:t>Japan: 1</a:t>
            </a:r>
          </a:p>
          <a:p>
            <a:pPr lvl="1"/>
            <a:r>
              <a:rPr lang="en-US" dirty="0"/>
              <a:t>Chinese: </a:t>
            </a:r>
            <a:r>
              <a:rPr lang="en-US" dirty="0" smtClean="0"/>
              <a:t>1</a:t>
            </a:r>
          </a:p>
          <a:p>
            <a:r>
              <a:rPr lang="en-US" dirty="0" smtClean="0"/>
              <a:t>Total </a:t>
            </a:r>
            <a:r>
              <a:rPr lang="en-US" dirty="0"/>
              <a:t>= 3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016" y="2036975"/>
            <a:ext cx="4789078" cy="242795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0469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407" y="176722"/>
            <a:ext cx="10058400" cy="1054919"/>
          </a:xfrm>
        </p:spPr>
        <p:txBody>
          <a:bodyPr>
            <a:normAutofit/>
          </a:bodyPr>
          <a:lstStyle/>
          <a:p>
            <a:r>
              <a:rPr lang="en-US" sz="4000" dirty="0"/>
              <a:t>Step </a:t>
            </a:r>
            <a:r>
              <a:rPr lang="en-US" sz="4000" dirty="0" smtClean="0"/>
              <a:t>4: Compute </a:t>
            </a:r>
            <a:r>
              <a:rPr lang="en-US" sz="4000" dirty="0"/>
              <a:t>probability of class for Doc 5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1641"/>
            <a:ext cx="10671048" cy="4940559"/>
          </a:xfrm>
        </p:spPr>
        <p:txBody>
          <a:bodyPr/>
          <a:lstStyle/>
          <a:p>
            <a:r>
              <a:rPr lang="en-US" dirty="0"/>
              <a:t>Document 5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Chinese </a:t>
            </a:r>
            <a:r>
              <a:rPr lang="en-US" dirty="0"/>
              <a:t>Chinese </a:t>
            </a:r>
            <a:r>
              <a:rPr lang="en-US" dirty="0" err="1"/>
              <a:t>Chinese</a:t>
            </a:r>
            <a:r>
              <a:rPr lang="en-US" dirty="0"/>
              <a:t> Tokyo </a:t>
            </a:r>
            <a:r>
              <a:rPr lang="en-US" dirty="0" smtClean="0"/>
              <a:t>Japan</a:t>
            </a:r>
          </a:p>
          <a:p>
            <a:r>
              <a:rPr lang="en-US" dirty="0" smtClean="0"/>
              <a:t>Number </a:t>
            </a:r>
            <a:r>
              <a:rPr lang="en-US" dirty="0"/>
              <a:t>of each word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Chinese </a:t>
            </a:r>
            <a:r>
              <a:rPr lang="en-US" dirty="0"/>
              <a:t>×</a:t>
            </a:r>
            <a:r>
              <a:rPr lang="en-US" dirty="0" smtClean="0"/>
              <a:t>3</a:t>
            </a:r>
          </a:p>
          <a:p>
            <a:pPr lvl="1"/>
            <a:r>
              <a:rPr lang="en-US" dirty="0" smtClean="0"/>
              <a:t>Tokyo </a:t>
            </a:r>
            <a:r>
              <a:rPr lang="en-US" dirty="0"/>
              <a:t>×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Japan </a:t>
            </a:r>
            <a:r>
              <a:rPr lang="en-US" dirty="0"/>
              <a:t>×</a:t>
            </a:r>
            <a:r>
              <a:rPr lang="en-US" dirty="0" smtClean="0"/>
              <a:t>1</a:t>
            </a:r>
          </a:p>
          <a:p>
            <a:r>
              <a:rPr lang="en-CA" sz="2400" b="1" u="sng" dirty="0"/>
              <a:t>For class </a:t>
            </a:r>
            <a:r>
              <a:rPr lang="en-CA" sz="2400" b="1" u="sng" dirty="0" smtClean="0"/>
              <a:t>c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CA" dirty="0"/>
              <a:t>Substitute</a:t>
            </a:r>
            <a:r>
              <a:rPr lang="en-CA" dirty="0" smtClean="0"/>
              <a:t>: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CA" dirty="0" smtClean="0"/>
              <a:t>Numerically </a:t>
            </a:r>
            <a:r>
              <a:rPr lang="en-CA" dirty="0"/>
              <a:t>≈ </a:t>
            </a:r>
            <a:r>
              <a:rPr lang="en-CA" b="1" dirty="0" smtClean="0"/>
              <a:t>0.0003	</a:t>
            </a:r>
            <a:endParaRPr lang="en-CA" dirty="0" smtClean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11" y="3852743"/>
            <a:ext cx="5472611" cy="62595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623" y="5035862"/>
            <a:ext cx="2141406" cy="57917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08727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316176"/>
          </a:xfrm>
        </p:spPr>
        <p:txBody>
          <a:bodyPr/>
          <a:lstStyle/>
          <a:p>
            <a:r>
              <a:rPr lang="en-US" dirty="0" smtClean="0"/>
              <a:t>CONT.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For class </a:t>
            </a:r>
            <a:r>
              <a:rPr lang="en-CA" b="1" dirty="0" smtClean="0"/>
              <a:t>j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CA" dirty="0"/>
              <a:t>Numerically ≈ </a:t>
            </a:r>
            <a:r>
              <a:rPr lang="en-CA" b="1" dirty="0"/>
              <a:t>0.0001</a:t>
            </a:r>
            <a:endParaRPr lang="en-CA" dirty="0"/>
          </a:p>
          <a:p>
            <a:endParaRPr lang="en-CA" b="1" dirty="0"/>
          </a:p>
          <a:p>
            <a:pPr lvl="1"/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443" y="2701321"/>
            <a:ext cx="5075360" cy="108213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64179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Final Decision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638" y="2441201"/>
            <a:ext cx="2550578" cy="8338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32758" y="3514922"/>
            <a:ext cx="4418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 the document is classified as </a:t>
            </a:r>
            <a:r>
              <a:rPr lang="en-US" b="1" dirty="0"/>
              <a:t>class c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720269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23</TotalTime>
  <Words>498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Rockwell</vt:lpstr>
      <vt:lpstr>Rockwell Condensed</vt:lpstr>
      <vt:lpstr>Wingdings</vt:lpstr>
      <vt:lpstr>Wood Type</vt:lpstr>
      <vt:lpstr>Text classification</vt:lpstr>
      <vt:lpstr>Naive Bayes</vt:lpstr>
      <vt:lpstr>The Naïve Assumption</vt:lpstr>
      <vt:lpstr>How Naïve Bayes Works for Text</vt:lpstr>
      <vt:lpstr>Which Naïve Bayes is used for text?</vt:lpstr>
      <vt:lpstr>Detailed Example</vt:lpstr>
      <vt:lpstr>Step 1: Priors</vt:lpstr>
      <vt:lpstr>Step 2: Count words with Laplace Smoothing</vt:lpstr>
      <vt:lpstr>Step 3: Compute Conditional Probabilities</vt:lpstr>
      <vt:lpstr>Cont.</vt:lpstr>
      <vt:lpstr>Step 4: Compute probability of class for Doc 5</vt:lpstr>
      <vt:lpstr>CONT.</vt:lpstr>
      <vt:lpstr>Final Decision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</dc:title>
  <dc:creator>Khalid</dc:creator>
  <cp:lastModifiedBy>Khalid</cp:lastModifiedBy>
  <cp:revision>3</cp:revision>
  <dcterms:created xsi:type="dcterms:W3CDTF">2025-11-18T04:34:37Z</dcterms:created>
  <dcterms:modified xsi:type="dcterms:W3CDTF">2025-11-18T04:58:11Z</dcterms:modified>
</cp:coreProperties>
</file>